
<file path=[Content_Types].xml><?xml version="1.0" encoding="utf-8"?>
<Types xmlns="http://schemas.openxmlformats.org/package/2006/content-types">
  <Default Extension="fntdata" ContentType="application/x-fontdata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23"/>
  </p:notesMasterIdLst>
  <p:sldIdLst>
    <p:sldId id="347" r:id="rId2"/>
    <p:sldId id="316" r:id="rId3"/>
    <p:sldId id="348" r:id="rId4"/>
    <p:sldId id="350" r:id="rId5"/>
    <p:sldId id="365" r:id="rId6"/>
    <p:sldId id="366" r:id="rId7"/>
    <p:sldId id="367" r:id="rId8"/>
    <p:sldId id="352" r:id="rId9"/>
    <p:sldId id="368" r:id="rId10"/>
    <p:sldId id="356" r:id="rId11"/>
    <p:sldId id="357" r:id="rId12"/>
    <p:sldId id="363" r:id="rId13"/>
    <p:sldId id="358" r:id="rId14"/>
    <p:sldId id="359" r:id="rId15"/>
    <p:sldId id="360" r:id="rId16"/>
    <p:sldId id="361" r:id="rId17"/>
    <p:sldId id="362" r:id="rId18"/>
    <p:sldId id="353" r:id="rId19"/>
    <p:sldId id="354" r:id="rId20"/>
    <p:sldId id="344" r:id="rId21"/>
    <p:sldId id="346" r:id="rId22"/>
  </p:sldIdLst>
  <p:sldSz cx="9144000" cy="5143500" type="screen16x9"/>
  <p:notesSz cx="6858000" cy="9144000"/>
  <p:embeddedFontLst>
    <p:embeddedFont>
      <p:font typeface="AR HERMANN" panose="020B0600000101010101" charset="0"/>
      <p:regular r:id="rId24"/>
    </p:embeddedFont>
    <p:embeddedFont>
      <p:font typeface="나눔고딕" panose="020D0604000000000000" pitchFamily="50" charset="-127"/>
      <p:regular r:id="rId25"/>
      <p:bold r:id="rId26"/>
    </p:embeddedFont>
    <p:embeddedFont>
      <p:font typeface="나눔고딕 ExtraBold" panose="020D0904000000000000" pitchFamily="50" charset="-127"/>
      <p:bold r:id="rId27"/>
    </p:embeddedFont>
    <p:embeddedFont>
      <p:font typeface="맑은 고딕" panose="020B0503020000020004" pitchFamily="50" charset="-127"/>
      <p:regular r:id="rId28"/>
      <p:bold r:id="rId29"/>
    </p:embeddedFont>
  </p:embeddedFontLst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89043" autoAdjust="0"/>
  </p:normalViewPr>
  <p:slideViewPr>
    <p:cSldViewPr snapToGrid="0">
      <p:cViewPr varScale="1">
        <p:scale>
          <a:sx n="146" d="100"/>
          <a:sy n="146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F6C2B-BA23-4B6F-A16C-E83E1A24F2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09C8C-1C0B-460F-A188-A3D13441D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14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6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8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92D050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3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19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25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3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13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7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7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5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92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07168"/>
            <a:ext cx="7886700" cy="3425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14F1D-BB12-4672-BB3C-1516046A1FA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51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ko.wikipedia.org/wiki/%EA%B2%80%EC%83%89%EC%A6%9D%EA%B0%95%EC%83%9D%EC%84%B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hyperlink" Target="https://www.youtube.com/c/SoftwareToolTime" TargetMode="External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524769" y="1802313"/>
            <a:ext cx="563035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S</a:t>
            </a:r>
            <a:r>
              <a:rPr lang="en-US" altLang="ko-KR" sz="4400" dirty="0">
                <a:latin typeface="AR HERMANN" panose="02000000000000000000" pitchFamily="2" charset="0"/>
              </a:rPr>
              <a:t>oft</a:t>
            </a:r>
            <a:r>
              <a:rPr lang="en-US" altLang="ko-KR" sz="44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w</a:t>
            </a:r>
            <a:r>
              <a:rPr lang="en-US" altLang="ko-KR" sz="4400" dirty="0">
                <a:latin typeface="AR HERMANN" panose="02000000000000000000" pitchFamily="2" charset="0"/>
              </a:rPr>
              <a:t>are </a:t>
            </a:r>
            <a:r>
              <a:rPr lang="en-US" altLang="ko-KR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 dirty="0">
                <a:latin typeface="AR HERMANN" panose="02000000000000000000" pitchFamily="2" charset="0"/>
              </a:rPr>
              <a:t>ool </a:t>
            </a:r>
            <a:r>
              <a:rPr lang="en-US" altLang="ko-KR" sz="4400" dirty="0">
                <a:solidFill>
                  <a:srgbClr val="FFC000"/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 dirty="0">
                <a:latin typeface="AR HERMANN" panose="02000000000000000000" pitchFamily="2" charset="0"/>
              </a:rPr>
              <a:t>ime</a:t>
            </a:r>
            <a:endParaRPr lang="ko-KR" altLang="en-US" sz="4400" dirty="0">
              <a:latin typeface="AR HERMANN" panose="02000000000000000000" pitchFamily="2" charset="0"/>
            </a:endParaRPr>
          </a:p>
        </p:txBody>
      </p:sp>
      <p:pic>
        <p:nvPicPr>
          <p:cNvPr id="12" name="그래픽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880" y="1780171"/>
            <a:ext cx="1224267" cy="124758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1026" name="Picture 2" descr="Creative Commons">
            <a:extLst>
              <a:ext uri="{FF2B5EF4-FFF2-40B4-BE49-F238E27FC236}">
                <a16:creationId xmlns:a16="http://schemas.microsoft.com/office/drawing/2014/main" id="{2DCAC4BA-2943-451C-A1DB-EBE3FE3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99" y="2683390"/>
            <a:ext cx="1287379" cy="31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2531412B-F6C5-4F12-9A19-53BF3016D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3">
                                          <p:stCondLst>
                                            <p:cond delay="81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08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08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3">
                                          <p:stCondLst>
                                            <p:cond delay="205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08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0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CCDFD-EBD7-4FD7-8F4F-A276841D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38" y="299037"/>
            <a:ext cx="7444539" cy="799582"/>
          </a:xfrm>
        </p:spPr>
        <p:txBody>
          <a:bodyPr>
            <a:no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  <a:latin typeface="+mn-lt"/>
                <a:ea typeface="+mn-ea"/>
              </a:rPr>
              <a:t>VectorDB</a:t>
            </a:r>
            <a:r>
              <a:rPr lang="en-US" altLang="ko-KR" sz="2800" b="1" dirty="0">
                <a:solidFill>
                  <a:srgbClr val="00B0F0"/>
                </a:solidFill>
                <a:latin typeface="+mn-lt"/>
                <a:ea typeface="+mn-ea"/>
              </a:rPr>
              <a:t>(</a:t>
            </a:r>
            <a:r>
              <a:rPr lang="en-US" altLang="ko-KR" sz="2800" b="1" dirty="0" err="1">
                <a:solidFill>
                  <a:srgbClr val="00B0F0"/>
                </a:solidFill>
                <a:latin typeface="+mn-lt"/>
                <a:ea typeface="+mn-ea"/>
              </a:rPr>
              <a:t>Qdrant</a:t>
            </a:r>
            <a:r>
              <a:rPr lang="en-US" altLang="ko-KR" sz="2800" b="1" dirty="0">
                <a:solidFill>
                  <a:srgbClr val="00B0F0"/>
                </a:solidFill>
                <a:latin typeface="+mn-lt"/>
                <a:ea typeface="+mn-ea"/>
              </a:rPr>
              <a:t>)</a:t>
            </a:r>
            <a:r>
              <a:rPr lang="ko-KR" altLang="en-US" sz="2800" b="1" dirty="0">
                <a:solidFill>
                  <a:srgbClr val="00B0F0"/>
                </a:solidFill>
                <a:latin typeface="+mn-lt"/>
                <a:ea typeface="+mn-ea"/>
              </a:rPr>
              <a:t>를 활용한 </a:t>
            </a:r>
            <a:r>
              <a:rPr lang="en-US" altLang="ko-KR" sz="2800" b="1" dirty="0">
                <a:solidFill>
                  <a:srgbClr val="00B0F0"/>
                </a:solidFill>
                <a:latin typeface="+mn-lt"/>
                <a:ea typeface="+mn-ea"/>
              </a:rPr>
              <a:t>RAG </a:t>
            </a:r>
            <a:r>
              <a:rPr lang="ko-KR" altLang="en-US" sz="2800" b="1" dirty="0">
                <a:solidFill>
                  <a:srgbClr val="00B0F0"/>
                </a:solidFill>
                <a:latin typeface="+mn-lt"/>
                <a:ea typeface="+mn-ea"/>
              </a:rPr>
              <a:t>기반 간단한 문서 </a:t>
            </a:r>
            <a:r>
              <a:rPr lang="en-US" altLang="ko-KR" sz="2800" b="1" dirty="0">
                <a:solidFill>
                  <a:srgbClr val="00B0F0"/>
                </a:solidFill>
                <a:latin typeface="+mn-lt"/>
                <a:ea typeface="+mn-ea"/>
              </a:rPr>
              <a:t>Q&amp;A </a:t>
            </a:r>
            <a:r>
              <a:rPr lang="ko-KR" altLang="en-US" sz="2800" b="1" dirty="0">
                <a:solidFill>
                  <a:srgbClr val="00B0F0"/>
                </a:solidFill>
                <a:latin typeface="+mn-lt"/>
                <a:ea typeface="+mn-ea"/>
              </a:rPr>
              <a:t>시스템 구축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C38BD-6602-4EC4-A99D-FC94ECF4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39" y="1159017"/>
            <a:ext cx="7302524" cy="3543612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강사</a:t>
            </a:r>
            <a:endParaRPr lang="en-US" altLang="ko-KR" sz="2000" dirty="0"/>
          </a:p>
          <a:p>
            <a:pPr lvl="1"/>
            <a:r>
              <a:rPr lang="ko-KR" altLang="en-US" sz="1600" dirty="0"/>
              <a:t>이주영</a:t>
            </a:r>
            <a:br>
              <a:rPr lang="en-US" altLang="ko-KR" sz="1600" dirty="0"/>
            </a:br>
            <a:endParaRPr lang="en-US" altLang="ko-KR" sz="1600" dirty="0"/>
          </a:p>
          <a:p>
            <a:r>
              <a:rPr lang="ko-KR" altLang="en-US" sz="2000" dirty="0"/>
              <a:t>목표</a:t>
            </a:r>
            <a:endParaRPr lang="en-US" altLang="ko-KR" sz="2000" dirty="0"/>
          </a:p>
          <a:p>
            <a:pPr lvl="1"/>
            <a:r>
              <a:rPr lang="en-US" altLang="ko-KR" sz="1600" dirty="0" err="1"/>
              <a:t>VectorDB</a:t>
            </a:r>
            <a:r>
              <a:rPr lang="en-US" altLang="ko-KR" sz="1600" dirty="0"/>
              <a:t> </a:t>
            </a:r>
            <a:r>
              <a:rPr lang="ko-KR" altLang="en-US" sz="1600" dirty="0"/>
              <a:t>기반 검색 시스템을 직접 구성</a:t>
            </a:r>
            <a:endParaRPr lang="en-US" altLang="ko-KR" sz="1600" dirty="0"/>
          </a:p>
          <a:p>
            <a:pPr lvl="1"/>
            <a:r>
              <a:rPr lang="en-US" altLang="ko-KR" sz="1600" dirty="0"/>
              <a:t>RAG</a:t>
            </a:r>
            <a:r>
              <a:rPr lang="ko-KR" altLang="en-US" sz="1600" dirty="0"/>
              <a:t>의 전체 파이프라인 구현</a:t>
            </a:r>
            <a:endParaRPr lang="en-US" altLang="ko-KR" sz="1600" dirty="0"/>
          </a:p>
          <a:p>
            <a:pPr lvl="1"/>
            <a:r>
              <a:rPr lang="ko-KR" altLang="en-US" sz="1600" dirty="0"/>
              <a:t>실제 서비스 형태</a:t>
            </a:r>
            <a:r>
              <a:rPr lang="en-US" altLang="ko-KR" sz="1600" dirty="0"/>
              <a:t>(</a:t>
            </a:r>
            <a:r>
              <a:rPr lang="en-US" altLang="ko-KR" sz="1600" dirty="0" err="1"/>
              <a:t>FastAPI</a:t>
            </a:r>
            <a:r>
              <a:rPr lang="en-US" altLang="ko-KR" sz="1600" dirty="0"/>
              <a:t> API + Docker + </a:t>
            </a:r>
            <a:r>
              <a:rPr lang="en-US" altLang="ko-KR" sz="1600" dirty="0" err="1"/>
              <a:t>Qdrant</a:t>
            </a:r>
            <a:r>
              <a:rPr lang="en-US" altLang="ko-KR" sz="1600" dirty="0"/>
              <a:t>)</a:t>
            </a:r>
            <a:r>
              <a:rPr lang="ko-KR" altLang="en-US" sz="1600" dirty="0"/>
              <a:t>로 동작하는 </a:t>
            </a:r>
            <a:r>
              <a:rPr lang="en-US" altLang="ko-KR" sz="1600" dirty="0"/>
              <a:t>MVP </a:t>
            </a:r>
            <a:r>
              <a:rPr lang="ko-KR" altLang="en-US" sz="1600" dirty="0"/>
              <a:t>구축</a:t>
            </a:r>
            <a:br>
              <a:rPr lang="en-US" altLang="ko-KR" sz="1600" dirty="0"/>
            </a:br>
            <a:endParaRPr lang="en-US" altLang="ko-KR" sz="1600" dirty="0"/>
          </a:p>
          <a:p>
            <a:r>
              <a:rPr lang="ko-KR" altLang="en-US" sz="2000" dirty="0"/>
              <a:t>사전 준비</a:t>
            </a:r>
            <a:endParaRPr lang="en-US" altLang="ko-KR" sz="2000" dirty="0"/>
          </a:p>
          <a:p>
            <a:pPr lvl="1"/>
            <a:r>
              <a:rPr lang="en-US" altLang="ko-KR" sz="1600" dirty="0"/>
              <a:t>Python 3.10+, Docker Desktop, Git, IDE(VS code)</a:t>
            </a:r>
            <a:endParaRPr lang="en-US" altLang="ko-KR" sz="12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6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B3E8C-D22E-9C12-85DD-AF1BF949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6E1624-DBC9-9DBE-EDD6-B01F83A7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ko-KR" altLang="en-US" dirty="0"/>
              <a:t>배경</a:t>
            </a:r>
            <a:endParaRPr lang="en-US" altLang="ko-KR" dirty="0"/>
          </a:p>
          <a:p>
            <a:pPr>
              <a:lnSpc>
                <a:spcPct val="130000"/>
              </a:lnSpc>
            </a:pPr>
            <a:r>
              <a:rPr lang="ko-KR" altLang="en-US" dirty="0"/>
              <a:t>프로젝트 개요</a:t>
            </a:r>
            <a:endParaRPr lang="en-US" altLang="ko-KR" dirty="0"/>
          </a:p>
          <a:p>
            <a:pPr>
              <a:lnSpc>
                <a:spcPct val="130000"/>
              </a:lnSpc>
            </a:pPr>
            <a:r>
              <a:rPr lang="ko-KR" altLang="en-US" dirty="0"/>
              <a:t>시스템 구조</a:t>
            </a:r>
            <a:endParaRPr lang="en-US" altLang="ko-KR" dirty="0"/>
          </a:p>
          <a:p>
            <a:pPr>
              <a:lnSpc>
                <a:spcPct val="130000"/>
              </a:lnSpc>
            </a:pPr>
            <a:r>
              <a:rPr lang="ko-KR" altLang="en-US" dirty="0"/>
              <a:t>실습</a:t>
            </a:r>
            <a:endParaRPr lang="en-US" altLang="ko-KR" dirty="0"/>
          </a:p>
          <a:p>
            <a:pPr>
              <a:lnSpc>
                <a:spcPct val="130000"/>
              </a:lnSpc>
            </a:pPr>
            <a:r>
              <a:rPr lang="ko-KR" altLang="en-US" dirty="0"/>
              <a:t>트러블슈팅</a:t>
            </a:r>
            <a:endParaRPr lang="en-US" altLang="ko-KR" dirty="0"/>
          </a:p>
          <a:p>
            <a:pPr>
              <a:lnSpc>
                <a:spcPct val="130000"/>
              </a:lnSpc>
            </a:pPr>
            <a:r>
              <a:rPr lang="ko-KR" altLang="en-US" dirty="0"/>
              <a:t>비교 및 대안</a:t>
            </a:r>
            <a:endParaRPr lang="en-US" altLang="ko-KR" dirty="0"/>
          </a:p>
          <a:p>
            <a:pPr>
              <a:lnSpc>
                <a:spcPct val="130000"/>
              </a:lnSpc>
            </a:pPr>
            <a:r>
              <a:rPr lang="ko-KR" altLang="en-US" dirty="0"/>
              <a:t>마무리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330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184E-7361-A493-BE21-BD554766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E90CA-13D9-57C9-3231-25311CD4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D72989-C235-ECC5-E87B-FB149E28F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한계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LLM</a:t>
            </a:r>
            <a:r>
              <a:rPr lang="ko-KR" altLang="en-US" dirty="0"/>
              <a:t>은 아직 학습하지 못한 최신 정보</a:t>
            </a:r>
            <a:r>
              <a:rPr lang="en-US" altLang="ko-KR" dirty="0"/>
              <a:t>, </a:t>
            </a:r>
            <a:r>
              <a:rPr lang="ko-KR" altLang="en-US" dirty="0"/>
              <a:t>특정 분야</a:t>
            </a:r>
            <a:r>
              <a:rPr lang="en-US" altLang="ko-KR" dirty="0"/>
              <a:t>, </a:t>
            </a:r>
            <a:r>
              <a:rPr lang="ko-KR" altLang="en-US" dirty="0"/>
              <a:t>조직 내부 데이터 등에 대해서는 정확한 답변을 주지 못함</a:t>
            </a:r>
            <a:r>
              <a:rPr lang="en-US" altLang="ko-KR" dirty="0"/>
              <a:t>.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en-US" altLang="ko-KR" dirty="0">
                <a:sym typeface="Wingdings" panose="05000000000000000000" pitchFamily="2" charset="2"/>
              </a:rPr>
              <a:t>	 </a:t>
            </a:r>
            <a:r>
              <a:rPr lang="ko-KR" altLang="en-US" dirty="0" err="1"/>
              <a:t>할루시네이션</a:t>
            </a:r>
            <a:r>
              <a:rPr lang="ko-KR" altLang="en-US" dirty="0"/>
              <a:t> 문제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en-US" altLang="ko-KR" dirty="0">
                <a:sym typeface="Wingdings" panose="05000000000000000000" pitchFamily="2" charset="2"/>
              </a:rPr>
              <a:t>	 </a:t>
            </a:r>
            <a:r>
              <a:rPr lang="ko-KR" altLang="en-US" dirty="0"/>
              <a:t>설명력이 부족한 정보의 생성</a:t>
            </a:r>
          </a:p>
        </p:txBody>
      </p:sp>
    </p:spTree>
    <p:extLst>
      <p:ext uri="{BB962C8B-B14F-4D97-AF65-F5344CB8AC3E}">
        <p14:creationId xmlns:p14="http://schemas.microsoft.com/office/powerpoint/2010/main" val="370836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90CC-F71F-2989-9F4B-737DEAF67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32894-A38F-AE92-0494-C28F6138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DF6D8-CC61-FE1F-8F99-5770874C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해결 방안</a:t>
            </a:r>
            <a:endParaRPr lang="en-US" altLang="ko-KR" dirty="0"/>
          </a:p>
          <a:p>
            <a:pPr lvl="1"/>
            <a:r>
              <a:rPr lang="en-US" altLang="ko-KR" dirty="0"/>
              <a:t>RAG</a:t>
            </a:r>
          </a:p>
          <a:p>
            <a:pPr lvl="1"/>
            <a:r>
              <a:rPr lang="ko-KR" altLang="en-US" dirty="0"/>
              <a:t>검색 증강 생성</a:t>
            </a:r>
            <a:r>
              <a:rPr lang="en-US" altLang="ko-KR" dirty="0"/>
              <a:t>(Retrieval-Augmented Generation)</a:t>
            </a:r>
          </a:p>
          <a:p>
            <a:pPr lvl="1"/>
            <a:r>
              <a:rPr lang="ko-KR" altLang="en-US" dirty="0"/>
              <a:t>대형 언어 모델 </a:t>
            </a:r>
            <a:r>
              <a:rPr lang="en-US" altLang="ko-KR" dirty="0"/>
              <a:t>(LLM)</a:t>
            </a:r>
            <a:r>
              <a:rPr lang="ko-KR" altLang="en-US" dirty="0"/>
              <a:t>이 새로운 정보를 검색하고 통합할 수 있도록 하는 기술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en-US" altLang="ko-KR" dirty="0"/>
              <a:t>RAG</a:t>
            </a:r>
            <a:r>
              <a:rPr lang="ko-KR" altLang="en-US" dirty="0"/>
              <a:t>를 사용하면 </a:t>
            </a:r>
            <a:r>
              <a:rPr lang="en-US" altLang="ko-KR" dirty="0"/>
              <a:t>LLM</a:t>
            </a:r>
            <a:r>
              <a:rPr lang="ko-KR" altLang="en-US" dirty="0"/>
              <a:t>은 지정된 문서 집합을 참조할 때까지 사용자 쿼리에 응답하지 않음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훈련 데이터에서 사용할 수 없는 도메인 특정 및 업데이트된 정보 사용 가능</a:t>
            </a:r>
            <a:endParaRPr lang="en-US" altLang="ko-KR" dirty="0"/>
          </a:p>
          <a:p>
            <a:pPr lvl="1"/>
            <a:r>
              <a:rPr lang="en-US" altLang="ko-KR" dirty="0"/>
              <a:t>Ex) LLM </a:t>
            </a:r>
            <a:r>
              <a:rPr lang="ko-KR" altLang="en-US" dirty="0"/>
              <a:t>기반 </a:t>
            </a:r>
            <a:r>
              <a:rPr lang="ko-KR" altLang="en-US" dirty="0" err="1"/>
              <a:t>챗봇이</a:t>
            </a:r>
            <a:r>
              <a:rPr lang="ko-KR" altLang="en-US" dirty="0"/>
              <a:t> 내부 회사 데이터에 접근</a:t>
            </a:r>
            <a:endParaRPr lang="en-US" altLang="ko-KR" dirty="0"/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권위 있는 출처를 기반으로 응답을 생성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DF1F2-18A3-F402-9C52-6E15B295BEF9}"/>
              </a:ext>
            </a:extLst>
          </p:cNvPr>
          <p:cNvSpPr txBox="1"/>
          <p:nvPr/>
        </p:nvSpPr>
        <p:spPr>
          <a:xfrm>
            <a:off x="628650" y="4432668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0">
              <a:buNone/>
            </a:pPr>
            <a:r>
              <a:rPr lang="ko-KR" altLang="en-US" sz="1000" dirty="0">
                <a:solidFill>
                  <a:schemeClr val="bg1">
                    <a:lumMod val="75000"/>
                    <a:lumOff val="25000"/>
                  </a:schemeClr>
                </a:solidFill>
                <a:hlinkClick r:id="rId2"/>
              </a:rPr>
              <a:t>위키백과 </a:t>
            </a:r>
            <a:r>
              <a:rPr lang="en-US" altLang="ko-KR" sz="1000" dirty="0">
                <a:solidFill>
                  <a:schemeClr val="bg1">
                    <a:lumMod val="75000"/>
                    <a:lumOff val="25000"/>
                  </a:schemeClr>
                </a:solidFill>
                <a:hlinkClick r:id="rId2"/>
              </a:rPr>
              <a:t>– </a:t>
            </a:r>
            <a:r>
              <a:rPr lang="ko-KR" altLang="en-US" sz="1000" dirty="0">
                <a:solidFill>
                  <a:schemeClr val="bg1">
                    <a:lumMod val="75000"/>
                    <a:lumOff val="25000"/>
                  </a:schemeClr>
                </a:solidFill>
                <a:hlinkClick r:id="rId2"/>
              </a:rPr>
              <a:t>검색증강생성성</a:t>
            </a:r>
            <a:endParaRPr lang="en-US" altLang="ko-KR" sz="1000" dirty="0">
              <a:solidFill>
                <a:schemeClr val="bg1">
                  <a:lumMod val="75000"/>
                  <a:lumOff val="25000"/>
                </a:schemeClr>
              </a:solidFill>
              <a:hlinkClick r:id="rId2"/>
            </a:endParaRPr>
          </a:p>
          <a:p>
            <a:pPr marL="342900" lvl="1" indent="0">
              <a:buNone/>
            </a:pPr>
            <a:r>
              <a:rPr lang="en-US" altLang="ko-KR" sz="1000" dirty="0">
                <a:solidFill>
                  <a:schemeClr val="bg1">
                    <a:lumMod val="75000"/>
                    <a:lumOff val="25000"/>
                  </a:schemeClr>
                </a:solidFill>
                <a:hlinkClick r:id="rId2"/>
              </a:rPr>
              <a:t>https://ko.wikipedia.org/wiki/%EA%B2%80%EC%83%89%EC%A6%9D%EA%B0%95%EC%83%9D%EC%84%B1</a:t>
            </a:r>
            <a:endParaRPr lang="ko-KR" altLang="en-US" sz="10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35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9111-3BBD-5462-52B8-5D9083A6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BB723-1C66-4F66-4BBD-06C7C3C2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E3FA77-8F50-DE23-9532-8B6CBC308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주요 단계</a:t>
            </a:r>
            <a:endParaRPr lang="en-US" altLang="ko-KR" dirty="0"/>
          </a:p>
          <a:p>
            <a:pPr lvl="1"/>
            <a:r>
              <a:rPr lang="ko-KR" altLang="en-US" dirty="0"/>
              <a:t>색인화</a:t>
            </a:r>
            <a:endParaRPr lang="en-US" altLang="ko-KR" dirty="0"/>
          </a:p>
          <a:p>
            <a:pPr lvl="2"/>
            <a:r>
              <a:rPr lang="ko-KR" altLang="en-US" dirty="0"/>
              <a:t>참조 데이터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/</a:t>
            </a:r>
            <a:r>
              <a:rPr lang="ko-KR" altLang="en-US" dirty="0"/>
              <a:t>반정형</a:t>
            </a:r>
            <a:r>
              <a:rPr lang="en-US" altLang="ko-KR" dirty="0"/>
              <a:t>/</a:t>
            </a:r>
            <a:r>
              <a:rPr lang="ko-KR" altLang="en-US" dirty="0"/>
              <a:t>정형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err="1"/>
              <a:t>임베딩</a:t>
            </a:r>
            <a:r>
              <a:rPr lang="ko-KR" altLang="en-US" dirty="0"/>
              <a:t> 벡터로 변환</a:t>
            </a:r>
            <a:endParaRPr lang="en-US" altLang="ko-KR" dirty="0"/>
          </a:p>
          <a:p>
            <a:pPr lvl="2"/>
            <a:r>
              <a:rPr lang="ko-KR" altLang="en-US" dirty="0"/>
              <a:t>생성된 벡터를 벡터 데이터베이스</a:t>
            </a:r>
            <a:r>
              <a:rPr lang="en-US" altLang="ko-KR" dirty="0"/>
              <a:t>(Vector DB)</a:t>
            </a:r>
            <a:r>
              <a:rPr lang="ko-KR" altLang="en-US" dirty="0"/>
              <a:t> 에 저장</a:t>
            </a:r>
            <a:endParaRPr lang="en-US" altLang="ko-KR" dirty="0"/>
          </a:p>
          <a:p>
            <a:pPr lvl="1"/>
            <a:r>
              <a:rPr lang="ko-KR" altLang="en-US" dirty="0"/>
              <a:t>검색</a:t>
            </a:r>
            <a:endParaRPr lang="en-US" altLang="ko-KR" dirty="0"/>
          </a:p>
          <a:p>
            <a:pPr lvl="2"/>
            <a:r>
              <a:rPr lang="ko-KR" altLang="en-US" dirty="0"/>
              <a:t>사용자 쿼리를 </a:t>
            </a:r>
            <a:r>
              <a:rPr lang="ko-KR" altLang="en-US" dirty="0" err="1"/>
              <a:t>임베딩하여</a:t>
            </a:r>
            <a:r>
              <a:rPr lang="ko-KR" altLang="en-US" dirty="0"/>
              <a:t> 가장 관련성 높은 문서를 선택</a:t>
            </a:r>
            <a:endParaRPr lang="en-US" altLang="ko-KR" dirty="0"/>
          </a:p>
          <a:p>
            <a:pPr lvl="2"/>
            <a:r>
              <a:rPr lang="ko-KR" altLang="en-US" dirty="0"/>
              <a:t>색인 방식에 따라 다양한 유사도 기반 검색 방법이 활용</a:t>
            </a:r>
            <a:endParaRPr lang="en-US" altLang="ko-KR" dirty="0"/>
          </a:p>
          <a:p>
            <a:pPr lvl="1"/>
            <a:r>
              <a:rPr lang="ko-KR" altLang="en-US" dirty="0"/>
              <a:t>증강</a:t>
            </a:r>
            <a:endParaRPr lang="en-US" altLang="ko-KR" dirty="0"/>
          </a:p>
          <a:p>
            <a:pPr lvl="2"/>
            <a:r>
              <a:rPr lang="ko-KR" altLang="en-US" dirty="0"/>
              <a:t>검색된 문서를 </a:t>
            </a:r>
            <a:r>
              <a:rPr lang="en-US" altLang="ko-KR" dirty="0"/>
              <a:t>LLM </a:t>
            </a:r>
            <a:r>
              <a:rPr lang="ko-KR" altLang="en-US" dirty="0"/>
              <a:t>프롬프트에 통합하여 정보를 보강</a:t>
            </a:r>
            <a:endParaRPr lang="en-US" altLang="ko-KR" dirty="0"/>
          </a:p>
          <a:p>
            <a:pPr lvl="1"/>
            <a:r>
              <a:rPr lang="ko-KR" altLang="en-US" dirty="0"/>
              <a:t>생성</a:t>
            </a:r>
            <a:endParaRPr lang="en-US" altLang="ko-KR" dirty="0"/>
          </a:p>
          <a:p>
            <a:pPr lvl="2"/>
            <a:r>
              <a:rPr lang="en-US" altLang="ko-KR" dirty="0"/>
              <a:t>LLM</a:t>
            </a:r>
            <a:r>
              <a:rPr lang="ko-KR" altLang="en-US" dirty="0"/>
              <a:t>이 사용자 쿼리 </a:t>
            </a:r>
            <a:r>
              <a:rPr lang="en-US" altLang="ko-KR" dirty="0"/>
              <a:t>+ </a:t>
            </a:r>
            <a:r>
              <a:rPr lang="ko-KR" altLang="en-US" dirty="0"/>
              <a:t>관련 문서를 바탕으로 최종 답변을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3745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1674-746B-6111-ABC7-E6FC61D6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07943-696A-B635-5528-85A4A449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91B72-0A3B-1D71-B769-8F22B141F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Qdrant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고차원 </a:t>
            </a:r>
            <a:r>
              <a:rPr lang="ko-KR" altLang="en-US" dirty="0" err="1"/>
              <a:t>임베딩을</a:t>
            </a:r>
            <a:r>
              <a:rPr lang="ko-KR" altLang="en-US" dirty="0"/>
              <a:t> 빠르게 검색하기 위한 벡터 데이터베이스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의미 기반 검색</a:t>
            </a:r>
            <a:r>
              <a:rPr lang="en-US" altLang="ko-KR" dirty="0"/>
              <a:t>(Semantic Search)·</a:t>
            </a:r>
            <a:r>
              <a:rPr lang="ko-KR" altLang="en-US" dirty="0"/>
              <a:t>추천 시스템 등에서 활용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벡터 </a:t>
            </a:r>
            <a:r>
              <a:rPr lang="en-US" altLang="ko-KR" dirty="0"/>
              <a:t>+ payload(</a:t>
            </a:r>
            <a:r>
              <a:rPr lang="ko-KR" altLang="en-US" dirty="0"/>
              <a:t>추가 정보</a:t>
            </a:r>
            <a:r>
              <a:rPr lang="en-US" altLang="ko-KR" dirty="0"/>
              <a:t>)</a:t>
            </a:r>
            <a:r>
              <a:rPr lang="ko-KR" altLang="en-US" dirty="0"/>
              <a:t>를 함께 저장하여 풍부한 검색 결과 제공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각 데이터</a:t>
            </a:r>
            <a:r>
              <a:rPr lang="en-US" altLang="ko-KR" dirty="0"/>
              <a:t>(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이미지 등</a:t>
            </a:r>
            <a:r>
              <a:rPr lang="en-US" altLang="ko-KR" dirty="0"/>
              <a:t>)</a:t>
            </a:r>
            <a:r>
              <a:rPr lang="ko-KR" altLang="en-US" dirty="0"/>
              <a:t>를 벡터</a:t>
            </a:r>
            <a:r>
              <a:rPr lang="en-US" altLang="ko-KR" dirty="0"/>
              <a:t>(embedding) </a:t>
            </a:r>
            <a:r>
              <a:rPr lang="ko-KR" altLang="en-US" dirty="0"/>
              <a:t>로 표현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벡터 </a:t>
            </a:r>
            <a:r>
              <a:rPr lang="en-US" altLang="ko-KR" dirty="0"/>
              <a:t>+ ID + payload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Point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Point</a:t>
            </a:r>
            <a:r>
              <a:rPr lang="ko-KR" altLang="en-US" dirty="0"/>
              <a:t>들을 모아 저장하는 단위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Collection</a:t>
            </a:r>
          </a:p>
        </p:txBody>
      </p:sp>
    </p:spTree>
    <p:extLst>
      <p:ext uri="{BB962C8B-B14F-4D97-AF65-F5344CB8AC3E}">
        <p14:creationId xmlns:p14="http://schemas.microsoft.com/office/powerpoint/2010/main" val="241179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0D5B-954E-D62F-AC54-E983D6FB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4782B-0829-02F3-4197-0D3730B1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E93F14-4072-5C9A-97B5-45CE7F35D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7168"/>
            <a:ext cx="7150282" cy="3425555"/>
          </a:xfrm>
        </p:spPr>
        <p:txBody>
          <a:bodyPr>
            <a:noAutofit/>
          </a:bodyPr>
          <a:lstStyle/>
          <a:p>
            <a:r>
              <a:rPr lang="ko-KR" altLang="en-US" dirty="0"/>
              <a:t>목표</a:t>
            </a:r>
            <a:endParaRPr lang="en-US" altLang="ko-KR" dirty="0"/>
          </a:p>
          <a:p>
            <a:pPr lvl="1"/>
            <a:r>
              <a:rPr lang="ko-KR" altLang="en-US" dirty="0"/>
              <a:t>다양한 오픈소스 도구로 문서 기반 질의응답 시스템 구축</a:t>
            </a:r>
            <a:endParaRPr lang="en-US" altLang="ko-KR" dirty="0"/>
          </a:p>
          <a:p>
            <a:pPr lvl="1"/>
            <a:r>
              <a:rPr lang="ko-KR" altLang="en-US" dirty="0"/>
              <a:t>사용자 관심 분야에 정확한 답을 제공하는 것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2025 </a:t>
            </a:r>
            <a:r>
              <a:rPr lang="ko-KR" altLang="en-US" dirty="0"/>
              <a:t>아주대학교 요람</a:t>
            </a:r>
            <a:r>
              <a:rPr lang="en-US" altLang="ko-KR" dirty="0"/>
              <a:t>_</a:t>
            </a:r>
            <a:r>
              <a:rPr lang="ko-KR" altLang="en-US" dirty="0"/>
              <a:t>소프트웨어학과</a:t>
            </a:r>
            <a:endParaRPr lang="en-US" altLang="ko-KR" dirty="0"/>
          </a:p>
          <a:p>
            <a:pPr lvl="1"/>
            <a:r>
              <a:rPr lang="ko-KR" altLang="en-US" dirty="0"/>
              <a:t>학사과정</a:t>
            </a:r>
            <a:r>
              <a:rPr lang="en-US" altLang="ko-KR" dirty="0"/>
              <a:t>_</a:t>
            </a:r>
            <a:r>
              <a:rPr lang="ko-KR" altLang="en-US" dirty="0"/>
              <a:t>학사운영규칙</a:t>
            </a:r>
            <a:endParaRPr lang="en-US" altLang="ko-KR" dirty="0"/>
          </a:p>
          <a:p>
            <a:r>
              <a:rPr lang="ko-KR" altLang="en-US" dirty="0"/>
              <a:t>사용기술</a:t>
            </a:r>
            <a:endParaRPr lang="en-US" altLang="ko-KR" dirty="0"/>
          </a:p>
          <a:p>
            <a:pPr lvl="1"/>
            <a:r>
              <a:rPr lang="en-US" altLang="ko-KR" dirty="0"/>
              <a:t>Backend: </a:t>
            </a:r>
            <a:r>
              <a:rPr lang="en-US" altLang="ko-KR" dirty="0" err="1"/>
              <a:t>FastAPI</a:t>
            </a:r>
            <a:r>
              <a:rPr lang="en-US" altLang="ko-KR" dirty="0"/>
              <a:t>, Sentence-Transformers, </a:t>
            </a:r>
            <a:r>
              <a:rPr lang="en-US" altLang="ko-KR" dirty="0" err="1"/>
              <a:t>Qdrant</a:t>
            </a:r>
            <a:r>
              <a:rPr lang="en-US" altLang="ko-KR" dirty="0"/>
              <a:t>(</a:t>
            </a:r>
            <a:r>
              <a:rPr lang="en-US" altLang="ko-KR" dirty="0" err="1"/>
              <a:t>VectorDB</a:t>
            </a:r>
            <a:r>
              <a:rPr lang="en-US" altLang="ko-KR" dirty="0"/>
              <a:t>), OpenAI GPT</a:t>
            </a:r>
          </a:p>
          <a:p>
            <a:pPr lvl="1"/>
            <a:r>
              <a:rPr lang="en-US" altLang="ko-KR" dirty="0"/>
              <a:t>Frontend: </a:t>
            </a:r>
            <a:r>
              <a:rPr lang="en-US" altLang="ko-KR" dirty="0" err="1"/>
              <a:t>Streamlit</a:t>
            </a:r>
            <a:endParaRPr lang="en-US" altLang="ko-KR" dirty="0"/>
          </a:p>
          <a:p>
            <a:pPr lvl="1"/>
            <a:r>
              <a:rPr lang="ko-KR" altLang="en-US" dirty="0"/>
              <a:t>배포</a:t>
            </a:r>
            <a:r>
              <a:rPr lang="en-US" altLang="ko-KR" dirty="0"/>
              <a:t>/</a:t>
            </a:r>
            <a:r>
              <a:rPr lang="ko-KR" altLang="en-US" dirty="0"/>
              <a:t>실행</a:t>
            </a:r>
            <a:r>
              <a:rPr lang="en-US" altLang="ko-KR" dirty="0"/>
              <a:t>: Docker Compose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1799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8112-DB8B-0394-0F3D-F84420D5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85724-9C7B-FE22-FD19-91AEDB56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시스템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236E4-AC21-4EA0-380D-9F4614F9F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 파이프라인</a:t>
            </a:r>
            <a:endParaRPr lang="en-US" altLang="ko-KR" dirty="0"/>
          </a:p>
          <a:p>
            <a:pPr lvl="1"/>
            <a:r>
              <a:rPr lang="ko-KR" altLang="en-US" dirty="0"/>
              <a:t>문서 정제 → </a:t>
            </a:r>
            <a:r>
              <a:rPr lang="en-US" altLang="ko-KR" dirty="0"/>
              <a:t>Chunking → Embedding →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en-US" altLang="ko-KR" dirty="0" err="1"/>
              <a:t>upsert</a:t>
            </a:r>
            <a:r>
              <a:rPr lang="ko-KR" altLang="en-US" dirty="0"/>
              <a:t> → 검색 </a:t>
            </a:r>
            <a:br>
              <a:rPr lang="en-US" altLang="ko-KR" dirty="0"/>
            </a:br>
            <a:r>
              <a:rPr lang="ko-KR" altLang="en-US" dirty="0"/>
              <a:t>→ 프롬프트 생성 → </a:t>
            </a:r>
            <a:r>
              <a:rPr lang="en-US" altLang="ko-KR" dirty="0"/>
              <a:t>LLM </a:t>
            </a:r>
            <a:r>
              <a:rPr lang="ko-KR" altLang="en-US" dirty="0"/>
              <a:t>답변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685800" lvl="1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문서 정제 및 </a:t>
            </a:r>
            <a:r>
              <a:rPr lang="en-US" altLang="ko-KR" dirty="0"/>
              <a:t>Chunking</a:t>
            </a:r>
          </a:p>
          <a:p>
            <a:pPr marL="685800" lvl="1" indent="-342900">
              <a:lnSpc>
                <a:spcPct val="150000"/>
              </a:lnSpc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685800" lvl="1" indent="-342900">
              <a:lnSpc>
                <a:spcPct val="150000"/>
              </a:lnSpc>
              <a:buAutoNum type="arabicPeriod"/>
            </a:pPr>
            <a:r>
              <a:rPr lang="en-US" altLang="ko-KR" dirty="0" err="1"/>
              <a:t>VectorDB</a:t>
            </a:r>
            <a:r>
              <a:rPr lang="en-US" altLang="ko-KR" dirty="0"/>
              <a:t>(</a:t>
            </a:r>
            <a:r>
              <a:rPr lang="en-US" altLang="ko-KR" dirty="0" err="1"/>
              <a:t>Qdrant</a:t>
            </a:r>
            <a:r>
              <a:rPr lang="en-US" altLang="ko-KR" dirty="0"/>
              <a:t>)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dirty="0"/>
              <a:t>Retrieval &amp; Generation</a:t>
            </a:r>
          </a:p>
        </p:txBody>
      </p:sp>
    </p:spTree>
    <p:extLst>
      <p:ext uri="{BB962C8B-B14F-4D97-AF65-F5344CB8AC3E}">
        <p14:creationId xmlns:p14="http://schemas.microsoft.com/office/powerpoint/2010/main" val="273162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B4D5-E12B-7626-D7C9-7EF0C64C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BDDD2-DDF3-62F2-1851-1F1D4391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5E455-9E33-352A-E71A-4E9324865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6915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B4A1-4CC2-A746-D4B3-305CB06C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745C3-B2FF-B985-3227-4DA75D48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66613-9E38-B72E-B8D1-B83468F6A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accent5"/>
                </a:solidFill>
              </a:rPr>
              <a:t>프로젝트 실행 환경 </a:t>
            </a:r>
            <a:r>
              <a:rPr lang="en-US" altLang="ko-KR" dirty="0">
                <a:solidFill>
                  <a:schemeClr val="accent5"/>
                </a:solidFill>
              </a:rPr>
              <a:t>&amp; </a:t>
            </a:r>
            <a:r>
              <a:rPr lang="en-US" altLang="ko-KR" dirty="0" err="1">
                <a:solidFill>
                  <a:schemeClr val="accent5"/>
                </a:solidFill>
              </a:rPr>
              <a:t>Qdrant</a:t>
            </a:r>
            <a:r>
              <a:rPr lang="en-US" altLang="ko-KR" dirty="0">
                <a:solidFill>
                  <a:schemeClr val="accent5"/>
                </a:solidFill>
              </a:rPr>
              <a:t> </a:t>
            </a:r>
            <a:r>
              <a:rPr lang="ko-KR" altLang="en-US" dirty="0">
                <a:solidFill>
                  <a:schemeClr val="accent5"/>
                </a:solidFill>
              </a:rPr>
              <a:t>인프라 세팅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5654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E5B4C-E247-4595-0428-850B1A30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04D7A-F93C-C3A2-C869-35B5E26A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3A103D-2DFF-D3C3-F312-FA37F66AB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accent5"/>
                </a:solidFill>
              </a:rPr>
              <a:t>문서 </a:t>
            </a:r>
            <a:r>
              <a:rPr lang="en-US" altLang="ko-KR" dirty="0">
                <a:solidFill>
                  <a:schemeClr val="accent5"/>
                </a:solidFill>
              </a:rPr>
              <a:t>Ingestion &amp; Chunking </a:t>
            </a:r>
            <a:r>
              <a:rPr lang="ko-KR" altLang="en-US" dirty="0">
                <a:solidFill>
                  <a:schemeClr val="accent5"/>
                </a:solidFill>
              </a:rPr>
              <a:t>파이프라인 구현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7615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7014-2FC8-EB5F-4C1D-9C3732F1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917B8-449B-42F9-5476-8A9FCE26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F8501-4F92-F55E-6DBD-4853340F6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chemeClr val="accent5"/>
                </a:solidFill>
              </a:rPr>
              <a:t>Embedding </a:t>
            </a:r>
            <a:r>
              <a:rPr lang="ko-KR" altLang="en-US" dirty="0">
                <a:solidFill>
                  <a:schemeClr val="accent5"/>
                </a:solidFill>
              </a:rPr>
              <a:t>생성 기능 구현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7733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BE76F-09CA-87C5-1734-6A5C10A8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C01D7-DEFC-0E3B-291E-C0062383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F7EAAF-4BAD-7783-434F-4F06F5DE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>
                <a:solidFill>
                  <a:schemeClr val="accent5"/>
                </a:solidFill>
              </a:rPr>
              <a:t>Qdrant</a:t>
            </a:r>
            <a:r>
              <a:rPr lang="en-US" altLang="ko-KR" dirty="0">
                <a:solidFill>
                  <a:schemeClr val="accent5"/>
                </a:solidFill>
              </a:rPr>
              <a:t> Vector </a:t>
            </a:r>
            <a:r>
              <a:rPr lang="ko-KR" altLang="en-US" dirty="0">
                <a:solidFill>
                  <a:schemeClr val="accent5"/>
                </a:solidFill>
              </a:rPr>
              <a:t>저장 </a:t>
            </a:r>
            <a:r>
              <a:rPr lang="en-US" altLang="ko-KR" dirty="0">
                <a:solidFill>
                  <a:schemeClr val="accent5"/>
                </a:solidFill>
              </a:rPr>
              <a:t>&amp; </a:t>
            </a:r>
            <a:r>
              <a:rPr lang="ko-KR" altLang="en-US" dirty="0">
                <a:solidFill>
                  <a:schemeClr val="accent5"/>
                </a:solidFill>
              </a:rPr>
              <a:t>검색 기능 구현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1468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57966-7243-474F-4EBA-CA47FDB0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D6D9A-8FE2-438C-7A72-3C3A1904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C8FCAA-7FA1-E93C-BC93-7AEE426E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chemeClr val="accent5"/>
                </a:solidFill>
              </a:rPr>
              <a:t>RAG Retrieval </a:t>
            </a:r>
            <a:r>
              <a:rPr lang="ko-KR" altLang="en-US" dirty="0">
                <a:solidFill>
                  <a:schemeClr val="accent5"/>
                </a:solidFill>
              </a:rPr>
              <a:t>파이프라인 구현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486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F1428-BFF9-1110-8706-F73B2CBF6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E8140-D034-1B72-6BF5-1CFE2266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0070D7-B8B6-9739-5A5B-63138F17F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chemeClr val="accent5"/>
                </a:solidFill>
              </a:rPr>
              <a:t>LLM </a:t>
            </a:r>
            <a:r>
              <a:rPr lang="ko-KR" altLang="en-US" dirty="0">
                <a:solidFill>
                  <a:schemeClr val="accent5"/>
                </a:solidFill>
              </a:rPr>
              <a:t>기반 답변 생성 기능 추가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서버 완성 및 테스트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1712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1649-0762-F6D0-E326-8FE3F213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FC764-827B-1B26-3B81-F4A1069C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B46CE-F48F-D6DB-91B1-191E4037F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단계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프로젝트 실행 환경 </a:t>
            </a:r>
            <a:r>
              <a:rPr lang="en-US" altLang="ko-KR" dirty="0"/>
              <a:t>&amp; </a:t>
            </a:r>
            <a:r>
              <a:rPr lang="en-US" altLang="ko-KR" dirty="0" err="1"/>
              <a:t>Qdrant</a:t>
            </a:r>
            <a:r>
              <a:rPr lang="en-US" altLang="ko-KR" dirty="0"/>
              <a:t> </a:t>
            </a:r>
            <a:r>
              <a:rPr lang="ko-KR" altLang="en-US" dirty="0"/>
              <a:t>인프라 세팅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문서 </a:t>
            </a:r>
            <a:r>
              <a:rPr lang="en-US" altLang="ko-KR" dirty="0"/>
              <a:t>Ingestion &amp; Chunking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Embedding </a:t>
            </a:r>
            <a:r>
              <a:rPr lang="ko-KR" altLang="en-US" dirty="0"/>
              <a:t>생성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Qdrant</a:t>
            </a:r>
            <a:r>
              <a:rPr lang="en-US" altLang="ko-KR" dirty="0"/>
              <a:t> Vector </a:t>
            </a:r>
            <a:r>
              <a:rPr lang="ko-KR" altLang="en-US" dirty="0"/>
              <a:t>저장 </a:t>
            </a:r>
            <a:r>
              <a:rPr lang="en-US" altLang="ko-KR" dirty="0"/>
              <a:t>&amp; </a:t>
            </a:r>
            <a:r>
              <a:rPr lang="ko-KR" altLang="en-US" dirty="0"/>
              <a:t>검색 기능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RAG Retrieval </a:t>
            </a:r>
            <a:r>
              <a:rPr lang="ko-KR" altLang="en-US" dirty="0"/>
              <a:t>파이프라인 구현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LLM </a:t>
            </a:r>
            <a:r>
              <a:rPr lang="ko-KR" altLang="en-US" dirty="0"/>
              <a:t>기반 답변 생성 기능 추가</a:t>
            </a:r>
            <a:endParaRPr lang="en-US" altLang="ko-KR" dirty="0"/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chemeClr val="accent5"/>
                </a:solidFill>
              </a:rPr>
              <a:t>API </a:t>
            </a:r>
            <a:r>
              <a:rPr lang="ko-KR" altLang="en-US" dirty="0">
                <a:solidFill>
                  <a:schemeClr val="accent5"/>
                </a:solidFill>
              </a:rPr>
              <a:t>서버 완성 및 테스트</a:t>
            </a:r>
            <a:endParaRPr lang="en-US" altLang="ko-KR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287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9198-0308-A993-665D-201BA9A1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D2B6B-0D47-521B-F15D-888C3D4E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트러블슈팅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8A18C-7795-EC6B-F672-D2934B69C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임베딩</a:t>
            </a:r>
            <a:r>
              <a:rPr lang="ko-KR" altLang="en-US" dirty="0"/>
              <a:t> 모델 변경</a:t>
            </a:r>
            <a:endParaRPr lang="en-US" altLang="ko-KR" dirty="0"/>
          </a:p>
          <a:p>
            <a:pPr lvl="1"/>
            <a:r>
              <a:rPr lang="en-US" altLang="ko-KR" dirty="0"/>
              <a:t>all-MiniLM-L6-v2 → multilingual-e5-small</a:t>
            </a:r>
            <a:r>
              <a:rPr lang="ko-KR" altLang="en-US" dirty="0"/>
              <a:t>로 교체</a:t>
            </a:r>
            <a:endParaRPr lang="en-US" altLang="ko-KR" dirty="0"/>
          </a:p>
          <a:p>
            <a:pPr lvl="1"/>
            <a:r>
              <a:rPr lang="ko-KR" altLang="en-US" dirty="0"/>
              <a:t>한국어 검색 품질 개선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Chunk </a:t>
            </a:r>
            <a:r>
              <a:rPr lang="ko-KR" altLang="en-US" dirty="0"/>
              <a:t>전략 변경</a:t>
            </a:r>
            <a:endParaRPr lang="en-US" altLang="ko-KR" dirty="0"/>
          </a:p>
          <a:p>
            <a:pPr lvl="1"/>
            <a:r>
              <a:rPr lang="ko-KR" altLang="en-US" dirty="0"/>
              <a:t>고정 길이 </a:t>
            </a:r>
            <a:r>
              <a:rPr lang="en-US" altLang="ko-KR" dirty="0"/>
              <a:t>300</a:t>
            </a:r>
            <a:r>
              <a:rPr lang="ko-KR" altLang="en-US" dirty="0"/>
              <a:t>자 → 문단 기준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1000</a:t>
            </a:r>
            <a:r>
              <a:rPr lang="ko-KR" altLang="en-US" dirty="0"/>
              <a:t>자 로직으로 바꿔 문맥 보존</a:t>
            </a:r>
          </a:p>
        </p:txBody>
      </p:sp>
    </p:spTree>
    <p:extLst>
      <p:ext uri="{BB962C8B-B14F-4D97-AF65-F5344CB8AC3E}">
        <p14:creationId xmlns:p14="http://schemas.microsoft.com/office/powerpoint/2010/main" val="4168769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B2FD-6781-BAEF-CFF3-28BA4A653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E8796-D11B-26B2-44BE-11F916F3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비교 및 대안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55DDFA-0C4D-35AC-EA83-DBB80987A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Qdrant</a:t>
            </a:r>
            <a:endParaRPr lang="en-US" altLang="ko-KR" dirty="0"/>
          </a:p>
          <a:p>
            <a:pPr lvl="1"/>
            <a:r>
              <a:rPr lang="ko-KR" altLang="en-US" dirty="0"/>
              <a:t>벡터 검색 품질 높음</a:t>
            </a:r>
          </a:p>
          <a:p>
            <a:pPr lvl="1"/>
            <a:r>
              <a:rPr lang="ko-KR" altLang="en-US" dirty="0"/>
              <a:t>일반적인 문서 검색용 </a:t>
            </a:r>
            <a:r>
              <a:rPr lang="en-US" altLang="ko-KR" dirty="0"/>
              <a:t>RAG</a:t>
            </a:r>
          </a:p>
          <a:p>
            <a:r>
              <a:rPr lang="en-US" altLang="ko-KR" dirty="0" err="1"/>
              <a:t>Weaviate</a:t>
            </a:r>
            <a:endParaRPr lang="en-US" altLang="ko-KR" dirty="0"/>
          </a:p>
          <a:p>
            <a:pPr lvl="1"/>
            <a:r>
              <a:rPr lang="en-US" altLang="ko-KR" dirty="0" err="1"/>
              <a:t>GraphQL</a:t>
            </a:r>
            <a:r>
              <a:rPr lang="en-US" altLang="ko-KR" dirty="0"/>
              <a:t> API</a:t>
            </a:r>
            <a:r>
              <a:rPr lang="ko-KR" altLang="en-US" dirty="0"/>
              <a:t>라 개발 쉬움</a:t>
            </a:r>
          </a:p>
          <a:p>
            <a:pPr lvl="1"/>
            <a:r>
              <a:rPr lang="en-US" altLang="ko-KR" dirty="0"/>
              <a:t>multimodal vector </a:t>
            </a:r>
            <a:r>
              <a:rPr lang="ko-KR" altLang="en-US" dirty="0"/>
              <a:t>연동 쉬움</a:t>
            </a:r>
          </a:p>
          <a:p>
            <a:pPr lvl="1"/>
            <a:r>
              <a:rPr lang="ko-KR" altLang="en-US" dirty="0"/>
              <a:t>이미지 </a:t>
            </a:r>
            <a:r>
              <a:rPr lang="en-US" altLang="ko-KR" dirty="0"/>
              <a:t>+ </a:t>
            </a:r>
            <a:r>
              <a:rPr lang="ko-KR" altLang="en-US" dirty="0"/>
              <a:t>텍스트 검색</a:t>
            </a:r>
          </a:p>
          <a:p>
            <a:r>
              <a:rPr lang="en-US" altLang="ko-KR" dirty="0"/>
              <a:t>Milvus</a:t>
            </a:r>
          </a:p>
          <a:p>
            <a:pPr lvl="1"/>
            <a:r>
              <a:rPr lang="ko-KR" altLang="en-US" dirty="0"/>
              <a:t>확장성이 뛰어난 오픈소스 고성능 벡터 데이터베이스</a:t>
            </a:r>
            <a:endParaRPr lang="en-US" altLang="ko-KR" dirty="0"/>
          </a:p>
          <a:p>
            <a:pPr lvl="1"/>
            <a:r>
              <a:rPr lang="ko-KR" altLang="en-US" dirty="0"/>
              <a:t>초대규모 </a:t>
            </a:r>
            <a:r>
              <a:rPr lang="en-US" altLang="ko-KR" dirty="0"/>
              <a:t>RAG </a:t>
            </a:r>
            <a:r>
              <a:rPr lang="ko-KR" altLang="en-US" dirty="0"/>
              <a:t>시스템에 사용</a:t>
            </a:r>
          </a:p>
        </p:txBody>
      </p:sp>
    </p:spTree>
    <p:extLst>
      <p:ext uri="{BB962C8B-B14F-4D97-AF65-F5344CB8AC3E}">
        <p14:creationId xmlns:p14="http://schemas.microsoft.com/office/powerpoint/2010/main" val="920101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28650" y="558266"/>
            <a:ext cx="7886700" cy="40744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000" dirty="0">
                <a:solidFill>
                  <a:srgbClr val="FFFF00"/>
                </a:solidFill>
                <a:latin typeface="+mn-ea"/>
                <a:cs typeface="Arial" panose="020B0604020202020204" pitchFamily="34" charset="0"/>
              </a:rPr>
              <a:t>Software Tool Time (</a:t>
            </a:r>
            <a:r>
              <a:rPr lang="ko-KR" altLang="en-US" sz="2000" dirty="0">
                <a:solidFill>
                  <a:srgbClr val="FFFF00"/>
                </a:solidFill>
                <a:latin typeface="+mn-ea"/>
                <a:cs typeface="Arial" panose="020B0604020202020204" pitchFamily="34" charset="0"/>
              </a:rPr>
              <a:t>소프트웨어 툴 타임</a:t>
            </a:r>
            <a:r>
              <a:rPr lang="en-US" altLang="ko-KR" sz="2000" dirty="0">
                <a:solidFill>
                  <a:srgbClr val="FFFF00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altLang="ko-KR" sz="1600" dirty="0">
                <a:latin typeface="+mn-ea"/>
                <a:cs typeface="Arial" panose="020B0604020202020204" pitchFamily="34" charset="0"/>
              </a:rPr>
              <a:t>(CC-BY-NC 4.0) Ajou University</a:t>
            </a:r>
          </a:p>
          <a:p>
            <a:pPr marL="0" indent="0" algn="ctr">
              <a:buNone/>
            </a:pPr>
            <a:endParaRPr lang="en-US" altLang="ko-KR" sz="1600" dirty="0"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600" dirty="0">
                <a:latin typeface="+mn-ea"/>
                <a:cs typeface="Arial" panose="020B0604020202020204" pitchFamily="34" charset="0"/>
              </a:rPr>
              <a:t>Visit “Software Tool Time” channel in YouTube :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https://www.youtube.com/c/SoftwareToolTime</a:t>
            </a:r>
            <a:r>
              <a:rPr lang="en-US" altLang="ko-KR" sz="1600" dirty="0">
                <a:latin typeface="+mn-ea"/>
                <a:cs typeface="Arial" panose="020B0604020202020204" pitchFamily="34" charset="0"/>
              </a:rPr>
              <a:t> </a:t>
            </a:r>
            <a:br>
              <a:rPr lang="en-US" altLang="ko-KR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</a:rPr>
            </a:br>
            <a:endParaRPr lang="en-US" altLang="ko-KR" sz="16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500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All product names, trademarks, and/or company names are used solely for identification and belong to their respective owners.</a:t>
            </a:r>
          </a:p>
          <a:p>
            <a:pPr marL="0" indent="0" algn="ctr">
              <a:buNone/>
            </a:pPr>
            <a:r>
              <a:rPr lang="en-US" altLang="ko-KR" sz="1500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“Software Tool Time” video is licensed to the public under a Creative Commons Attribution 4.0 License  (https://creativecommons.org/license/by/4.0/) </a:t>
            </a:r>
          </a:p>
          <a:p>
            <a:pPr marL="0" indent="0" algn="ctr">
              <a:buNone/>
            </a:pPr>
            <a:r>
              <a:rPr lang="en-US" altLang="ko-KR" sz="1500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Twin </a:t>
            </a:r>
            <a:r>
              <a:rPr lang="en-US" altLang="ko-KR" sz="1500" dirty="0" err="1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Musicom’s</a:t>
            </a:r>
            <a:r>
              <a:rPr lang="ko-KR" altLang="en-US" sz="1500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500" dirty="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African Drums (Sting) is licensed to the to the public under a Creative Commons Attribution 4.0 License (Artist: http://www.twinmusicom.org/)</a:t>
            </a:r>
          </a:p>
        </p:txBody>
      </p:sp>
      <p:pic>
        <p:nvPicPr>
          <p:cNvPr id="2050" name="Picture 2" descr="Creative Commons">
            <a:extLst>
              <a:ext uri="{FF2B5EF4-FFF2-40B4-BE49-F238E27FC236}">
                <a16:creationId xmlns:a16="http://schemas.microsoft.com/office/drawing/2014/main" id="{6AE06B9F-FD0B-4C77-AC7E-03A6408D6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32723"/>
            <a:ext cx="1159042" cy="28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48356DE-CE21-4391-8E51-CF1FEFD7F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758" y="268669"/>
            <a:ext cx="743671" cy="75783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6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B87ECA76-32A7-4267-9D4E-8F36C49682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7FD49-CD4C-E222-0C49-99B102D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AD47-9AE2-C62C-A443-3CDB403E6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B1B90-0073-13FD-4BE6-308A7595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73"/>
            <a:ext cx="9241766" cy="5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1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2&quot;/&gt;&lt;property id=&quot;20307&quot; value=&quot;256&quot;/&gt;&lt;/object&gt;&lt;object type=&quot;3&quot; unique_id=&quot;10004&quot;&gt;&lt;property id=&quot;20148&quot; value=&quot;5&quot;/&gt;&lt;property id=&quot;20300&quot; value=&quot;Slide 6&quot;/&gt;&lt;property id=&quot;20307&quot; value=&quot;257&quot;/&gt;&lt;/object&gt;&lt;object type=&quot;3&quot; unique_id=&quot;10021&quot;&gt;&lt;property id=&quot;20148&quot; value=&quot;5&quot;/&gt;&lt;property id=&quot;20300&quot; value=&quot;Slide 3 - &amp;quot;Lecture : vi editor 초보편&amp;quot;&quot;/&gt;&lt;property id=&quot;20307&quot; value=&quot;258&quot;/&gt;&lt;/object&gt;&lt;object type=&quot;3&quot; unique_id=&quot;10047&quot;&gt;&lt;property id=&quot;20148&quot; value=&quot;5&quot;/&gt;&lt;property id=&quot;20300&quot; value=&quot;Slide 4 - &amp;quot;여기 부터 강의&amp;quot;&quot;/&gt;&lt;property id=&quot;20307&quot; value=&quot;260&quot;/&gt;&lt;/object&gt;&lt;object type=&quot;3&quot; unique_id=&quot;10048&quot;&gt;&lt;property id=&quot;20148&quot; value=&quot;5&quot;/&gt;&lt;property id=&quot;20300&quot; value=&quot;Slide 5 - &amp;quot;Lecture : vi editor 초보편&amp;quot;&quot;/&gt;&lt;property id=&quot;20307&quot; value=&quot;259&quot;/&gt;&lt;/object&gt;&lt;object type=&quot;3&quot; unique_id=&quot;10071&quot;&gt;&lt;property id=&quot;20148&quot; value=&quot;5&quot;/&gt;&lt;property id=&quot;20300&quot; value=&quot;Slide 1 - &amp;quot;Are you ready?&amp;quot;&quot;/&gt;&lt;property id=&quot;20307&quot; value=&quot;261&quot;/&gt;&lt;/object&gt;&lt;/object&gt;&lt;object type=&quot;8&quot; unique_id=&quot;1000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9701</TotalTime>
  <Words>958</Words>
  <Application>Microsoft Office PowerPoint</Application>
  <PresentationFormat>화면 슬라이드 쇼(16:9)</PresentationFormat>
  <Paragraphs>174</Paragraphs>
  <Slides>21</Slides>
  <Notes>3</Notes>
  <HiddenSlides>0</HiddenSlides>
  <MMClips>2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Arial</vt:lpstr>
      <vt:lpstr>맑은 고딕</vt:lpstr>
      <vt:lpstr>AR HERMANN</vt:lpstr>
      <vt:lpstr>나눔고딕</vt:lpstr>
      <vt:lpstr>Wingdings</vt:lpstr>
      <vt:lpstr>나눔고딕 ExtraBold</vt:lpstr>
      <vt:lpstr>Office Theme</vt:lpstr>
      <vt:lpstr>PowerPoint 프레젠테이션</vt:lpstr>
      <vt:lpstr>VectorDB(Qdrant)를 활용한 RAG 기반 간단한 문서 Q&amp;A 시스템 구축</vt:lpstr>
      <vt:lpstr>목차</vt:lpstr>
      <vt:lpstr>배경</vt:lpstr>
      <vt:lpstr>배경</vt:lpstr>
      <vt:lpstr>배경</vt:lpstr>
      <vt:lpstr>배경</vt:lpstr>
      <vt:lpstr>프로젝트 개요</vt:lpstr>
      <vt:lpstr>시스템 구조</vt:lpstr>
      <vt:lpstr>실습</vt:lpstr>
      <vt:lpstr>실습</vt:lpstr>
      <vt:lpstr>실습</vt:lpstr>
      <vt:lpstr>실습</vt:lpstr>
      <vt:lpstr>실습</vt:lpstr>
      <vt:lpstr>실습</vt:lpstr>
      <vt:lpstr>실습</vt:lpstr>
      <vt:lpstr>실습</vt:lpstr>
      <vt:lpstr>트러블슈팅</vt:lpstr>
      <vt:lpstr>비교 및 대안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HyL</dc:creator>
  <cp:lastModifiedBy>이 주영</cp:lastModifiedBy>
  <cp:revision>112</cp:revision>
  <dcterms:created xsi:type="dcterms:W3CDTF">2017-03-17T07:48:16Z</dcterms:created>
  <dcterms:modified xsi:type="dcterms:W3CDTF">2025-12-11T11:53:02Z</dcterms:modified>
</cp:coreProperties>
</file>